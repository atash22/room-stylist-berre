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0" cy="685800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47888" y="0"/>
            <a:ext cx="0" cy="685800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31936" y="0"/>
            <a:ext cx="0" cy="685800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15984" y="0"/>
            <a:ext cx="0" cy="685800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00032" y="0"/>
            <a:ext cx="0" cy="685800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0" y="0"/>
            <a:ext cx="0" cy="685800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68128" y="0"/>
            <a:ext cx="0" cy="685800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52176" y="0"/>
            <a:ext cx="0" cy="685800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36224" y="0"/>
            <a:ext cx="0" cy="685800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20272" y="0"/>
            <a:ext cx="0" cy="685800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04320" y="0"/>
            <a:ext cx="0" cy="685800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88368" y="0"/>
            <a:ext cx="0" cy="685800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0" y="0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0" y="384048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768096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1152144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1536192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1920240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0" y="2304288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2688336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3072384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3456432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3840480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0" y="4224528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4608576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4992624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5376672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5760720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6144768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63840" y="6528816"/>
            <a:ext cx="4327855" cy="0"/>
          </a:xfrm>
          <a:prstGeom prst="line">
            <a:avLst/>
          </a:prstGeom>
          <a:noFill/>
          <a:ln w="9525">
            <a:solidFill>
              <a:srgbClr val="2E42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78240" y="2377440"/>
            <a:ext cx="2468880" cy="1920240"/>
          </a:xfrm>
          <a:prstGeom prst="rect">
            <a:avLst/>
          </a:prstGeom>
          <a:solidFill>
            <a:srgbClr val="1C2B45"/>
          </a:solidFill>
          <a:ln w="19050">
            <a:solidFill>
              <a:srgbClr val="8FA3C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98280" y="3703320"/>
            <a:ext cx="1828800" cy="502920"/>
          </a:xfrm>
          <a:prstGeom prst="rect">
            <a:avLst/>
          </a:prstGeom>
          <a:solidFill>
            <a:srgbClr val="8FA3C2"/>
          </a:solidFill>
          <a:ln w="12700">
            <a:solidFill>
              <a:srgbClr val="8FA3C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23317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ROOM STYLIST</a:t>
            </a:r>
            <a:endParaRPr lang="en-US" sz="4600" dirty="0"/>
          </a:p>
        </p:txBody>
      </p:sp>
      <p:sp>
        <p:nvSpPr>
          <p:cNvPr id="35" name="Text 33"/>
          <p:cNvSpPr/>
          <p:nvPr/>
        </p:nvSpPr>
        <p:spPr>
          <a:xfrm>
            <a:off x="594360" y="32461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7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interior-style classifier and furniture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7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for Berre.ca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94360" y="4617720"/>
            <a:ext cx="2011680" cy="0"/>
          </a:xfrm>
          <a:prstGeom prst="line">
            <a:avLst/>
          </a:prstGeom>
          <a:noFill/>
          <a:ln w="31750">
            <a:solidFill>
              <a:srgbClr val="B87A2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Atash Kakabayev  •  101641391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94360" y="51389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Data Science Systems — Module 7 Case Study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192024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192024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94360" y="239572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23957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problem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287121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871216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334670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3346704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ML Canvas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94360" y="382219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382219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benchmarking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94360" y="429768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29768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94360" y="477316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477316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issues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94360" y="524865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5248656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94360" y="572414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71600" y="5724144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Stylist — Berre.ca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486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—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1828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1C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Berre.ca sells furniture across 6+ style families — from Mid-Century Modern to Bellona's Traditional collections.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94360" y="288036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individual products, but no fast way to match a room's style to the right furniture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Browsing by category name doesn't capture visual similarity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scroll through pages that don't reflect what their room actually looks like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80960" y="2971800"/>
            <a:ext cx="3977640" cy="2377440"/>
          </a:xfrm>
          <a:prstGeom prst="rect">
            <a:avLst/>
          </a:prstGeom>
          <a:solidFill>
            <a:srgbClr val="F2F2EF"/>
          </a:solidFill>
          <a:ln w="12700">
            <a:solidFill>
              <a:srgbClr val="F2F2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200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GOAL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955280" y="35661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C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 room photo's style, then recommend real, in-catalog Berre products that match.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Stylist — Berre.ca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486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— 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this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196596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18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Berre's catalog is large and highly visual — style is the single biggest factor in a shopping decision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8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style-matching tool reinforces Berre's own curated-aesthetic brand, instead of bolting on a generic chatbot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8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price points mean even a small lift in “found the right piece” conversion has real revenue impact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8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computer vision, model benchmarking, and full deployment — exactly this course's skill set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0" y="1920240"/>
            <a:ext cx="3840480" cy="1051560"/>
          </a:xfrm>
          <a:prstGeom prst="rect">
            <a:avLst/>
          </a:prstGeom>
          <a:solidFill>
            <a:srgbClr val="F2F2EF"/>
          </a:solidFill>
          <a:ln w="12700">
            <a:solidFill>
              <a:srgbClr val="F2F2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01000" y="20116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$700–$8,000+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001000" y="24871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per item — even small conversion gains matter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0" y="3154680"/>
            <a:ext cx="3840480" cy="1051560"/>
          </a:xfrm>
          <a:prstGeom prst="rect">
            <a:avLst/>
          </a:prstGeom>
          <a:solidFill>
            <a:srgbClr val="F2F2EF"/>
          </a:solidFill>
          <a:ln w="12700">
            <a:solidFill>
              <a:srgbClr val="F2F2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3246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001000" y="3721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SKUs across the Berre catalog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0" y="4389120"/>
            <a:ext cx="3840480" cy="1051560"/>
          </a:xfrm>
          <a:prstGeom prst="rect">
            <a:avLst/>
          </a:prstGeom>
          <a:solidFill>
            <a:srgbClr val="F2F2EF"/>
          </a:solidFill>
          <a:ln w="12700">
            <a:solidFill>
              <a:srgbClr val="F2F2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1000" y="4480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6+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001000" y="49560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interior style families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Stylist — Berre.ca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0486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— LITERATURE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Literature Review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82296" cy="384048"/>
          </a:xfrm>
          <a:prstGeom prst="rect">
            <a:avLst/>
          </a:prstGeom>
          <a:solidFill>
            <a:srgbClr val="B87A2E"/>
          </a:solidFill>
          <a:ln w="12700">
            <a:solidFill>
              <a:srgbClr val="B87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002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Past available projects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98424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style classification is a known academic and Kaggle-style task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datasets are Houzz-sourced, with ~19 raw style labels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26080"/>
            <a:ext cx="82296" cy="384048"/>
          </a:xfrm>
          <a:prstGeom prst="rect">
            <a:avLst/>
          </a:prstGeom>
          <a:solidFill>
            <a:srgbClr val="B87A2E"/>
          </a:solidFill>
          <a:ln w="12700">
            <a:solidFill>
              <a:srgbClr val="B87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8803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Similar projects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26440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 Lens &amp; Wayfair's “Shop the Look” use visual similarity search, not classification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zero-shot is a common, strong no-training baseline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4206240"/>
            <a:ext cx="82296" cy="384048"/>
          </a:xfrm>
          <a:prstGeom prst="rect">
            <a:avLst/>
          </a:prstGeom>
          <a:solidFill>
            <a:srgbClr val="B87A2E"/>
          </a:solidFill>
          <a:ln w="12700">
            <a:solidFill>
              <a:srgbClr val="B87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1605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Drawbacks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4544568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style categories don't map cleanly onto any one retailer's catalog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raw labels manually consolidated into 6 Berre-aligned categories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projects stop at classification — few connect to a live, purchasable catalog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Stylist — Berre.ca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486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— 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ML Canvas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28800"/>
          <a:ext cx="11002975" cy="4572000"/>
        </p:xfrm>
        <a:graphic>
          <a:graphicData uri="http://schemas.openxmlformats.org/drawingml/2006/table">
            <a:tbl>
              <a:tblPr/>
              <a:tblGrid>
                <a:gridCol w="2194560"/>
                <a:gridCol w="8808415"/>
              </a:tblGrid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Proposition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Given a room photo, predict its interior style so Berre.ca can recommend matching furniture instead of the shopper browsing hundreds of SKUs.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Sources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Berre.ca product images/category tags; public interior-style dataset (Houzz-sourced, 19 raw labels, consolidated to 6 Berre-aligned buckets).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 Task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Multi-class image classification. Input: room photo. Output: 1 of 6 style classes + confidence score.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Evaluation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70/15/15 train/val/test split. Metrics: accuracy, macro F1 (classes are imbalanced), confusion matrix per model.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style filters/ranks the Berre product catalog → top-K products returned to the shopper.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Making Predictions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offline during benchmarking; real-time single-image inference via the deployed Flask/Docker/Azure API.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Models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learning: fine-tuned ResNet-18 and EfficientNet-B0 with dropout; CLIP zero-shot as a no-training baseline.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 Simulation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metric would be click-through / conversion vs. a best-seller baseline; out of scope for this course build.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Stylist — Berre.ca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0486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— 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Model Benchmarking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28800"/>
          <a:ext cx="11002975" cy="1554480"/>
        </p:xfrm>
        <a:graphic>
          <a:graphicData uri="http://schemas.openxmlformats.org/drawingml/2006/table">
            <a:tbl>
              <a:tblPr/>
              <a:tblGrid>
                <a:gridCol w="2377440"/>
                <a:gridCol w="1600200"/>
                <a:gridCol w="1600200"/>
                <a:gridCol w="1828800"/>
                <a:gridCol w="2926080"/>
              </a:tblGrid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F1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(ms/img)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B4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ResNet-18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transfer-learning CNN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EfficientNet-B0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Winner — best accuracy &amp; F1, no latency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E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B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zero-shot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training needed; underperformed the fine-tuned models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" y="3703320"/>
            <a:ext cx="1100297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 selected for deployment — best accuracy and macro F1, no latency penalty vs. ResNet-18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zero-shot underperformed both fine-tuned models on this fine-grained, 6-class task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38–41% accuracy is well above the 17% random baseline for a 6-class problem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style classification is genuinely hard — even humans confuse visually similar styles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Stylist — Berre.ca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0486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— 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Model Deployment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03120"/>
            <a:ext cx="1828800" cy="1051560"/>
          </a:xfrm>
          <a:prstGeom prst="rect">
            <a:avLst/>
          </a:prstGeom>
          <a:solidFill>
            <a:srgbClr val="1C2B45"/>
          </a:solidFill>
          <a:ln w="12700">
            <a:solidFill>
              <a:srgbClr val="1C2B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226771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Notebook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2670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7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Colab, T4 GPU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423160" y="2103120"/>
            <a:ext cx="464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87904" y="2103120"/>
            <a:ext cx="1828800" cy="1051560"/>
          </a:xfrm>
          <a:prstGeom prst="rect">
            <a:avLst/>
          </a:prstGeom>
          <a:solidFill>
            <a:srgbClr val="1C2B45"/>
          </a:solidFill>
          <a:ln w="12700">
            <a:solidFill>
              <a:srgbClr val="1C2B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7904" y="226771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Script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87904" y="2670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7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predict.py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16704" y="2103120"/>
            <a:ext cx="464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181448" y="2103120"/>
            <a:ext cx="1828800" cy="1051560"/>
          </a:xfrm>
          <a:prstGeom prst="rect">
            <a:avLst/>
          </a:prstGeom>
          <a:solidFill>
            <a:srgbClr val="1C2B45"/>
          </a:solidFill>
          <a:ln w="12700">
            <a:solidFill>
              <a:srgbClr val="1C2B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81448" y="226771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Flask API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81448" y="2670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7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/predict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010248" y="2103120"/>
            <a:ext cx="464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474991" y="2103120"/>
            <a:ext cx="1828800" cy="1051560"/>
          </a:xfrm>
          <a:prstGeom prst="rect">
            <a:avLst/>
          </a:prstGeom>
          <a:solidFill>
            <a:srgbClr val="1C2B45"/>
          </a:solidFill>
          <a:ln w="12700">
            <a:solidFill>
              <a:srgbClr val="1C2B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74991" y="226771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Docker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74991" y="2670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7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303791" y="2103120"/>
            <a:ext cx="464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768535" y="2103120"/>
            <a:ext cx="1828800" cy="1051560"/>
          </a:xfrm>
          <a:prstGeom prst="rect">
            <a:avLst/>
          </a:prstGeom>
          <a:solidFill>
            <a:srgbClr val="B87A2E"/>
          </a:solidFill>
          <a:ln w="12700">
            <a:solidFill>
              <a:srgbClr val="B87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68535" y="226771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Azure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768535" y="2670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2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URL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4360" y="3703320"/>
            <a:ext cx="1100297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benchmarking run in a Colab notebook on a free T4 GPU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model exported into a lightweight predict.py script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 in a Flask API with a single POST endpoint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 with Docker so it runs identically anywhere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 Azure (Container Registry + Container Instances) — a real, public URL anyone can call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Stylist — Berre.ca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486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— REFLECTION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Challenges &amp; Issues Encountered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18608" cy="1298448"/>
          </a:xfrm>
          <a:prstGeom prst="rect">
            <a:avLst/>
          </a:prstGeom>
          <a:solidFill>
            <a:srgbClr val="F2F2EF"/>
          </a:solidFill>
          <a:ln w="12700">
            <a:solidFill>
              <a:srgbClr val="F2F2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28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failed locally (read-only filesystem) — fixed by freeing disk space and relocating Docker's virtual disk.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78728" y="1691640"/>
            <a:ext cx="5318608" cy="1298448"/>
          </a:xfrm>
          <a:prstGeom prst="rect">
            <a:avLst/>
          </a:prstGeom>
          <a:solidFill>
            <a:srgbClr val="F2F2EF"/>
          </a:solidFill>
          <a:ln w="12700">
            <a:solidFill>
              <a:srgbClr val="F2F2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1608" y="1828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61608" y="214884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debug mode caused silent connection resets in production — fixed by setting debug=False.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172968"/>
            <a:ext cx="5318608" cy="1298448"/>
          </a:xfrm>
          <a:prstGeom prst="rect">
            <a:avLst/>
          </a:prstGeom>
          <a:solidFill>
            <a:srgbClr val="F2F2EF"/>
          </a:solidFill>
          <a:ln w="12700">
            <a:solidFill>
              <a:srgbClr val="F2F2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31012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630168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Portal's container wizard threw vague conflict errors — switching to the Azure CLI gave clear, fixable messages.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8728" y="3172968"/>
            <a:ext cx="5318608" cy="1298448"/>
          </a:xfrm>
          <a:prstGeom prst="rect">
            <a:avLst/>
          </a:prstGeom>
          <a:solidFill>
            <a:srgbClr val="F2F2EF"/>
          </a:solidFill>
          <a:ln w="12700">
            <a:solidFill>
              <a:srgbClr val="F2F2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1608" y="331012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61608" y="3630168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demo couldn't read API responses until CORS was explicitly enabled.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4654296"/>
            <a:ext cx="5318608" cy="1298448"/>
          </a:xfrm>
          <a:prstGeom prst="rect">
            <a:avLst/>
          </a:prstGeom>
          <a:solidFill>
            <a:srgbClr val="F2F2EF"/>
          </a:solidFill>
          <a:ln w="12700">
            <a:solidFill>
              <a:srgbClr val="F2F2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79145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5111496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raw labels → 6 categories left some classes smaller — addressed by reporting macro F1 alongside accuracy.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Stylist — Berre.ca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486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—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Live Demo</a:t>
            </a:r>
            <a:endParaRPr lang="en-US" sz="3200" dirty="0"/>
          </a:p>
        </p:txBody>
      </p:sp>
      <p:pic>
        <p:nvPicPr>
          <p:cNvPr id="4" name="Image 0" descr="demo_screensh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783080"/>
            <a:ext cx="7223760" cy="342376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55648"/>
            <a:ext cx="7278624" cy="347862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DDDD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83880" y="2011680"/>
            <a:ext cx="34134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uploads a photo of their room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returns predicted style + confidence across all 6 categories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Berre products shown — photos, prices, links — pulled from the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183880" y="4886801"/>
            <a:ext cx="3413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7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room-stylist-final-atash.canadacentral.azurecontainer.io:5000/predict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9436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Stylist — Berre.ca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04869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Thank you.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9436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94360" y="3977640"/>
            <a:ext cx="1828800" cy="0"/>
          </a:xfrm>
          <a:prstGeom prst="line">
            <a:avLst/>
          </a:prstGeom>
          <a:noFill/>
          <a:ln w="31750">
            <a:solidFill>
              <a:srgbClr val="B87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Live API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room-stylist-final-atash.canadacentral.azurecontainer.io:5000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Source Code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212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repo linked in submission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87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LOGISTICS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Presentation Bookkeeping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2011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15 groups in total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4360" y="2468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240 minutes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29260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16 minutes for each group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10 minutes for presentation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3840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5 minutes for Q&amp;A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4297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 minute for group changing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2026-08-13T21:00:42Z</dcterms:created>
  <dcterms:modified xsi:type="dcterms:W3CDTF">2026-08-13T21:00:42Z</dcterms:modified>
</cp:coreProperties>
</file>